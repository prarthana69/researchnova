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79" r:id="rId8"/>
    <p:sldId id="291" r:id="rId9"/>
    <p:sldId id="262" r:id="rId10"/>
    <p:sldId id="264" r:id="rId11"/>
    <p:sldId id="295" r:id="rId12"/>
    <p:sldId id="290" r:id="rId13"/>
    <p:sldId id="294" r:id="rId14"/>
    <p:sldId id="292" r:id="rId15"/>
    <p:sldId id="293" r:id="rId16"/>
    <p:sldId id="286" r:id="rId17"/>
    <p:sldId id="287" r:id="rId18"/>
    <p:sldId id="280" r:id="rId19"/>
    <p:sldId id="288"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6803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02324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prarthana69/ResearchNova"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7459792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err="1" smtClean="0"/>
                        <a:t>Prarthana</a:t>
                      </a:r>
                      <a:r>
                        <a:rPr lang="en-US" sz="2000" dirty="0" smtClean="0"/>
                        <a:t> B</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prarthanafeb2007@gmail.com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7019996348</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18356" y="1460724"/>
            <a:ext cx="10280254" cy="461665"/>
          </a:xfrm>
          <a:prstGeom prst="rect">
            <a:avLst/>
          </a:prstGeom>
          <a:noFill/>
        </p:spPr>
        <p:txBody>
          <a:bodyPr wrap="square" rtlCol="0">
            <a:spAutoFit/>
          </a:bodyPr>
          <a:lstStyle/>
          <a:p>
            <a:r>
              <a:rPr lang="en-US" sz="2400" b="1" dirty="0"/>
              <a:t>Domain of  Project </a:t>
            </a:r>
            <a:r>
              <a:rPr lang="en-US" sz="2400" b="1" dirty="0" smtClean="0"/>
              <a:t>–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err="1"/>
              <a:t>ResearchNova</a:t>
            </a:r>
            <a:r>
              <a:rPr lang="en-US" sz="2400" b="1" dirty="0"/>
              <a:t> AI — From Scattered Papers to Breakthrough Ideas</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solidFill>
                <a:srgbClr val="FF0000"/>
              </a:solidFill>
            </a:endParaRPr>
          </a:p>
        </p:txBody>
      </p:sp>
      <p:pic>
        <p:nvPicPr>
          <p:cNvPr id="2" name="Picture 1"/>
          <p:cNvPicPr>
            <a:picLocks noChangeAspect="1"/>
          </p:cNvPicPr>
          <p:nvPr/>
        </p:nvPicPr>
        <p:blipFill>
          <a:blip r:embed="rId3"/>
          <a:stretch>
            <a:fillRect/>
          </a:stretch>
        </p:blipFill>
        <p:spPr>
          <a:xfrm>
            <a:off x="4021475" y="3657158"/>
            <a:ext cx="1115448" cy="11102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r>
              <a:rPr lang="en-US" b="1" dirty="0" smtClean="0"/>
              <a:t>Problem </a:t>
            </a:r>
            <a:r>
              <a:rPr lang="en-US" b="1" dirty="0"/>
              <a:t>Statement No.7: Research </a:t>
            </a:r>
            <a:r>
              <a:rPr lang="en-US" b="1" dirty="0" smtClean="0"/>
              <a:t>Agent</a:t>
            </a:r>
            <a:endParaRPr lang="en-US" b="1" dirty="0"/>
          </a:p>
          <a:p>
            <a:endParaRPr lang="en-US" dirty="0"/>
          </a:p>
          <a:p>
            <a:r>
              <a:rPr lang="en-US" b="1" dirty="0" smtClean="0"/>
              <a:t>The Challenge</a:t>
            </a:r>
            <a:endParaRPr lang="en-US" b="1" dirty="0"/>
          </a:p>
          <a:p>
            <a:endParaRPr lang="en-US" dirty="0"/>
          </a:p>
          <a:p>
            <a:r>
              <a:rPr lang="en-US" dirty="0"/>
              <a:t>Researchers,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a:t>
            </a:r>
            <a:r>
              <a:rPr lang="en-US" b="1" dirty="0"/>
              <a:t> </a:t>
            </a:r>
            <a:r>
              <a:rPr lang="en-US" b="1" dirty="0" smtClean="0"/>
              <a:t>synthesize</a:t>
            </a:r>
            <a:r>
              <a:rPr lang="en-US" b="1" dirty="0"/>
              <a:t>, analyze, and generate actionable research </a:t>
            </a:r>
            <a:r>
              <a:rPr lang="en-US" b="1" dirty="0" smtClean="0"/>
              <a:t>insights </a:t>
            </a:r>
            <a:r>
              <a:rPr lang="en-US" dirty="0"/>
              <a:t>in real time.</a:t>
            </a:r>
          </a:p>
          <a:p>
            <a:endParaRPr lang="en-US" dirty="0"/>
          </a:p>
          <a:p>
            <a:r>
              <a:rPr lang="en-US" b="1" dirty="0" smtClean="0"/>
              <a:t>The Objective</a:t>
            </a:r>
            <a:endParaRPr lang="en-US" b="1" dirty="0"/>
          </a:p>
          <a:p>
            <a:endParaRPr lang="en-US" dirty="0"/>
          </a:p>
          <a:p>
            <a:r>
              <a:rPr lang="en-US" dirty="0"/>
              <a:t>Build an </a:t>
            </a:r>
            <a:r>
              <a:rPr lang="en-US" b="1" dirty="0" smtClean="0"/>
              <a:t>agentic </a:t>
            </a:r>
            <a:r>
              <a:rPr lang="en-US" b="1" dirty="0"/>
              <a:t>AI </a:t>
            </a:r>
            <a:r>
              <a:rPr lang="en-US" b="1" dirty="0" smtClean="0"/>
              <a:t>application</a:t>
            </a:r>
            <a:r>
              <a:rPr lang="en-US" dirty="0" smtClean="0"/>
              <a:t> that acts </a:t>
            </a:r>
            <a:r>
              <a:rPr lang="en-US" dirty="0"/>
              <a:t>as an intelligent research companion. The solution should:</a:t>
            </a:r>
          </a:p>
          <a:p>
            <a:endParaRPr lang="en-US" dirty="0"/>
          </a:p>
          <a:p>
            <a:r>
              <a:rPr lang="en-US" b="1" dirty="0"/>
              <a:t>- </a:t>
            </a:r>
            <a:r>
              <a:rPr lang="en-US" b="1" dirty="0" smtClean="0"/>
              <a:t>Fuse </a:t>
            </a:r>
            <a:r>
              <a:rPr lang="en-US" b="1" dirty="0"/>
              <a:t>Academic </a:t>
            </a:r>
            <a:r>
              <a:rPr lang="en-US" b="1" dirty="0" smtClean="0"/>
              <a:t>Sources: </a:t>
            </a:r>
            <a:r>
              <a:rPr lang="en-US" dirty="0" smtClean="0"/>
              <a:t>Aggregate </a:t>
            </a:r>
            <a:r>
              <a:rPr lang="en-US" dirty="0"/>
              <a:t>data from research papers, journals, preprints, and knowledge repositories, then synthesize them into clear, concise literature reviews.</a:t>
            </a:r>
          </a:p>
          <a:p>
            <a:r>
              <a:rPr lang="en-US" b="1" dirty="0"/>
              <a:t>- </a:t>
            </a:r>
            <a:r>
              <a:rPr lang="en-US" b="1" dirty="0" smtClean="0"/>
              <a:t>Enable </a:t>
            </a:r>
            <a:r>
              <a:rPr lang="en-US" b="1" dirty="0"/>
              <a:t>Multimodal Research Input</a:t>
            </a:r>
            <a:r>
              <a:rPr lang="en-US" b="1" dirty="0" smtClean="0"/>
              <a:t>:</a:t>
            </a:r>
            <a:r>
              <a:rPr lang="en-US" dirty="0" smtClean="0"/>
              <a:t> </a:t>
            </a:r>
            <a:r>
              <a:rPr lang="en-US" dirty="0"/>
              <a:t>Accept user queries, notes, charts, or even PDFs, and convert them into structured insights, references, and summaries.</a:t>
            </a:r>
          </a:p>
          <a:p>
            <a:r>
              <a:rPr lang="en-US" b="1" dirty="0"/>
              <a:t>- </a:t>
            </a:r>
            <a:r>
              <a:rPr lang="en-US" b="1" dirty="0" smtClean="0"/>
              <a:t>Create </a:t>
            </a:r>
            <a:r>
              <a:rPr lang="en-US" b="1" dirty="0"/>
              <a:t>a Predictive &amp; Agentic </a:t>
            </a:r>
            <a:r>
              <a:rPr lang="en-US" b="1" dirty="0" smtClean="0"/>
              <a:t>Layer:</a:t>
            </a:r>
            <a:r>
              <a:rPr lang="en-US" dirty="0"/>
              <a:t> </a:t>
            </a:r>
            <a:r>
              <a:rPr lang="en-US" dirty="0" smtClean="0"/>
              <a:t>Highlight </a:t>
            </a:r>
            <a:r>
              <a:rPr lang="en-US" dirty="0"/>
              <a:t>emerging trends, detect citation gaps, and predict promising directions for future research in a given domain.</a:t>
            </a:r>
          </a:p>
          <a:p>
            <a:r>
              <a:rPr lang="en-US" b="1" dirty="0"/>
              <a:t>- </a:t>
            </a:r>
            <a:r>
              <a:rPr lang="en-US" b="1" dirty="0" smtClean="0"/>
              <a:t>Visualize </a:t>
            </a:r>
            <a:r>
              <a:rPr lang="en-US" b="1" dirty="0"/>
              <a:t>Research Insights</a:t>
            </a:r>
            <a:r>
              <a:rPr lang="en-US" b="1" dirty="0" smtClean="0"/>
              <a:t>: </a:t>
            </a:r>
            <a:r>
              <a:rPr lang="en-US" dirty="0"/>
              <a:t>Provide an interactive dashboard with topic clusters, citation maps, sentiment/trend analysis, and concise knowledge graphs.</a:t>
            </a:r>
          </a:p>
          <a:p>
            <a:endParaRPr lang="en-US" b="1" dirty="0"/>
          </a:p>
          <a:p>
            <a:r>
              <a:rPr lang="en-US" b="1" dirty="0" smtClean="0"/>
              <a:t>Tech </a:t>
            </a:r>
            <a:r>
              <a:rPr lang="en-US" b="1" dirty="0"/>
              <a:t>Stack (Mandatory</a:t>
            </a:r>
            <a:r>
              <a:rPr lang="en-US" b="1" dirty="0" smtClean="0"/>
              <a:t>)</a:t>
            </a:r>
            <a:endParaRPr lang="en-US" b="1" dirty="0"/>
          </a:p>
          <a:p>
            <a:endParaRPr lang="en-US" dirty="0"/>
          </a:p>
          <a:p>
            <a:r>
              <a:rPr lang="en-US" dirty="0"/>
              <a:t>- IBM </a:t>
            </a:r>
            <a:r>
              <a:rPr lang="en-US" dirty="0" err="1"/>
              <a:t>Langflow</a:t>
            </a:r>
            <a:r>
              <a:rPr lang="en-US" dirty="0"/>
              <a:t> / IBM Orchestrate + IBM Models</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78423"/>
          </a:xfrm>
          <a:prstGeom prst="rect">
            <a:avLst/>
          </a:prstGeom>
          <a:noFill/>
        </p:spPr>
        <p:txBody>
          <a:bodyPr wrap="square" rtlCol="0">
            <a:spAutoFit/>
          </a:bodyPr>
          <a:lstStyle/>
          <a:p>
            <a:r>
              <a:rPr lang="en-US" b="1" dirty="0"/>
              <a:t>Proposed Solution: </a:t>
            </a:r>
            <a:r>
              <a:rPr lang="en-US" b="1" dirty="0" err="1"/>
              <a:t>ResearchNova</a:t>
            </a:r>
            <a:r>
              <a:rPr lang="en-US" b="1" dirty="0"/>
              <a:t> AI</a:t>
            </a:r>
          </a:p>
          <a:p>
            <a:endParaRPr lang="en-US" dirty="0"/>
          </a:p>
          <a:p>
            <a:r>
              <a:rPr lang="en-US" b="1" dirty="0"/>
              <a:t>1. Unified Research Platform:</a:t>
            </a:r>
          </a:p>
          <a:p>
            <a:r>
              <a:rPr lang="en-US" dirty="0"/>
              <a:t>Collect academic papers, journals, preprints, and research resources in one place.</a:t>
            </a:r>
          </a:p>
          <a:p>
            <a:endParaRPr lang="en-US" dirty="0"/>
          </a:p>
          <a:p>
            <a:r>
              <a:rPr lang="en-US" b="1" dirty="0"/>
              <a:t>2. AI-Powered Literature Review:</a:t>
            </a:r>
          </a:p>
          <a:p>
            <a:r>
              <a:rPr lang="en-US" dirty="0"/>
              <a:t>Summarize papers, compare findings, and generate literature reviews with citations.</a:t>
            </a:r>
          </a:p>
          <a:p>
            <a:endParaRPr lang="en-US" dirty="0"/>
          </a:p>
          <a:p>
            <a:r>
              <a:rPr lang="en-US" b="1" dirty="0"/>
              <a:t>3. Multimodal Input:</a:t>
            </a:r>
          </a:p>
          <a:p>
            <a:r>
              <a:rPr lang="en-US" dirty="0"/>
              <a:t>Accept research queries, PDFs, notes, and charts to generate structured insights.</a:t>
            </a:r>
          </a:p>
          <a:p>
            <a:endParaRPr lang="en-US" dirty="0"/>
          </a:p>
          <a:p>
            <a:r>
              <a:rPr lang="en-US" b="1" dirty="0"/>
              <a:t>4. Research Gap Detection:</a:t>
            </a:r>
          </a:p>
          <a:p>
            <a:r>
              <a:rPr lang="en-US" dirty="0"/>
              <a:t>Identify unexplored areas, research limitations, and opportunities for further study.</a:t>
            </a:r>
          </a:p>
          <a:p>
            <a:endParaRPr lang="en-US" dirty="0"/>
          </a:p>
          <a:p>
            <a:r>
              <a:rPr lang="en-US" b="1" dirty="0"/>
              <a:t>5. Predictive Insights:</a:t>
            </a:r>
          </a:p>
          <a:p>
            <a:r>
              <a:rPr lang="en-US" dirty="0"/>
              <a:t>Analyze emerging trends and suggest promising future research directions.</a:t>
            </a:r>
          </a:p>
          <a:p>
            <a:endParaRPr lang="en-US" dirty="0"/>
          </a:p>
          <a:p>
            <a:r>
              <a:rPr lang="en-US" b="1" dirty="0"/>
              <a:t>6. Interactive Dashboard:</a:t>
            </a:r>
          </a:p>
          <a:p>
            <a:r>
              <a:rPr lang="en-US" dirty="0"/>
              <a:t>Visualize topic clusters, citation maps, trends, and knowledge graphs.</a:t>
            </a:r>
          </a:p>
          <a:p>
            <a:endParaRPr lang="en-US" dirty="0"/>
          </a:p>
          <a:p>
            <a:r>
              <a:rPr lang="en-US" b="1" dirty="0"/>
              <a:t>7. Agentic AI Integration:</a:t>
            </a:r>
          </a:p>
          <a:p>
            <a:r>
              <a:rPr lang="en-US" dirty="0"/>
              <a:t>Use IBM </a:t>
            </a:r>
            <a:r>
              <a:rPr lang="en-US" dirty="0" err="1"/>
              <a:t>Langflow</a:t>
            </a:r>
            <a:r>
              <a:rPr lang="en-US" dirty="0"/>
              <a:t> / IBM Orchestrate and IBM Models to automate research workflows.</a:t>
            </a:r>
          </a:p>
          <a:p>
            <a:endParaRPr lang="en-US" dirty="0"/>
          </a:p>
          <a:p>
            <a:r>
              <a:rPr lang="en-US" b="1" dirty="0"/>
              <a:t>Expected Outcome:</a:t>
            </a:r>
          </a:p>
          <a:p>
            <a:r>
              <a:rPr lang="en-US" dirty="0"/>
              <a:t>Transform scattered academic information into organized, evidence-based, and actionable research insights.</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955750"/>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smtClean="0"/>
              <a:t>.</a:t>
            </a:r>
            <a:r>
              <a:rPr lang="en-US" sz="1800" dirty="0" err="1" smtClean="0"/>
              <a:t>gitignore</a:t>
            </a:r>
            <a:endParaRPr lang="en-US" sz="1800" dirty="0" smtClean="0"/>
          </a:p>
          <a:p>
            <a:pPr marL="342900" indent="-342900">
              <a:buFont typeface="+mj-lt"/>
              <a:buAutoNum type="arabicPeriod"/>
            </a:pPr>
            <a:endParaRPr lang="en-US" sz="1800" dirty="0" smtClean="0"/>
          </a:p>
          <a:p>
            <a:pPr marL="342900" indent="-342900">
              <a:buFont typeface="+mj-lt"/>
              <a:buAutoNum type="arabicPeriod"/>
            </a:pPr>
            <a:r>
              <a:rPr lang="en-US" sz="1800" dirty="0" smtClean="0"/>
              <a:t>.</a:t>
            </a:r>
            <a:r>
              <a:rPr lang="en-US" sz="1800" dirty="0" err="1" smtClean="0"/>
              <a:t>oxlintric.json</a:t>
            </a:r>
            <a:endParaRPr lang="en-US" sz="1800" dirty="0" smtClean="0"/>
          </a:p>
          <a:p>
            <a:endParaRPr lang="en-US" sz="1800" dirty="0"/>
          </a:p>
          <a:p>
            <a:r>
              <a:rPr lang="en-US" sz="1800" dirty="0" smtClean="0"/>
              <a:t>3. </a:t>
            </a:r>
            <a:r>
              <a:rPr lang="en-US" sz="1800" dirty="0"/>
              <a:t> </a:t>
            </a:r>
            <a:r>
              <a:rPr lang="en-US" sz="1800" dirty="0" smtClean="0"/>
              <a:t> .index.html</a:t>
            </a:r>
            <a:endParaRPr lang="en-US" sz="1800" dirty="0"/>
          </a:p>
          <a:p>
            <a:endParaRPr lang="en-US" sz="1800" dirty="0"/>
          </a:p>
          <a:p>
            <a:r>
              <a:rPr lang="en-US" sz="1800" dirty="0" smtClean="0"/>
              <a:t>4.   .package-</a:t>
            </a:r>
            <a:r>
              <a:rPr lang="en-US" sz="1800" dirty="0" err="1" smtClean="0"/>
              <a:t>lock.json</a:t>
            </a:r>
            <a:endParaRPr lang="en-US" sz="1800" dirty="0"/>
          </a:p>
          <a:p>
            <a:pPr marL="342900" indent="-342900">
              <a:buFont typeface="+mj-lt"/>
              <a:buAutoNum type="arabicPeriod"/>
            </a:pPr>
            <a:endParaRPr lang="en-US" sz="1800" dirty="0"/>
          </a:p>
          <a:p>
            <a:pPr marL="342900" indent="-342900">
              <a:buAutoNum type="arabicPeriod" startAt="5"/>
            </a:pPr>
            <a:r>
              <a:rPr lang="en-US" sz="1800" dirty="0" err="1" smtClean="0"/>
              <a:t>package.json</a:t>
            </a:r>
            <a:endParaRPr lang="en-US" sz="1800" dirty="0" smtClean="0"/>
          </a:p>
          <a:p>
            <a:pPr marL="342900" indent="-342900">
              <a:buAutoNum type="arabicPeriod" startAt="5"/>
            </a:pPr>
            <a:endParaRPr lang="en-US" sz="1800" dirty="0"/>
          </a:p>
          <a:p>
            <a:pPr marL="342900" indent="-342900">
              <a:buAutoNum type="arabicPeriod" startAt="5"/>
            </a:pPr>
            <a:r>
              <a:rPr lang="en-US" sz="1800" dirty="0" smtClean="0"/>
              <a:t>README.md</a:t>
            </a:r>
          </a:p>
          <a:p>
            <a:pPr marL="342900" indent="-342900">
              <a:buAutoNum type="arabicPeriod" startAt="5"/>
            </a:pPr>
            <a:endParaRPr lang="en-US" sz="1800" dirty="0"/>
          </a:p>
          <a:p>
            <a:pPr marL="342900" indent="-342900">
              <a:buAutoNum type="arabicPeriod" startAt="5"/>
            </a:pPr>
            <a:r>
              <a:rPr lang="en-US" sz="1800" dirty="0" err="1" smtClean="0"/>
              <a:t>tsconnfig.json</a:t>
            </a:r>
            <a:endParaRPr lang="en-US" sz="1800" dirty="0" smtClean="0"/>
          </a:p>
          <a:p>
            <a:pPr marL="342900" indent="-342900">
              <a:buAutoNum type="arabicPeriod" startAt="5"/>
            </a:pPr>
            <a:endParaRPr lang="en-US" sz="1800" dirty="0"/>
          </a:p>
          <a:p>
            <a:pPr marL="342900" indent="-342900">
              <a:buAutoNum type="arabicPeriod" startAt="5"/>
            </a:pPr>
            <a:r>
              <a:rPr lang="en-US" sz="1800" dirty="0" err="1" smtClean="0"/>
              <a:t>Vite.config.ts</a:t>
            </a:r>
            <a:endParaRPr lang="en-US" sz="1800" dirty="0" smtClean="0"/>
          </a:p>
          <a:p>
            <a:pPr marL="342900" indent="-342900">
              <a:buAutoNum type="arabicPeriod" startAt="5"/>
            </a:pPr>
            <a:endParaRPr lang="en-US" sz="1800" dirty="0"/>
          </a:p>
          <a:p>
            <a:pPr marL="342900" indent="-342900">
              <a:buAutoNum type="arabicPeriod" startAt="5"/>
            </a:pP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3650" y="1015587"/>
            <a:ext cx="9126611" cy="5131213"/>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000" y="1017673"/>
            <a:ext cx="10769600" cy="605494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3"/>
            <a:ext cx="12192000" cy="685465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4" name="Picture 3"/>
          <p:cNvPicPr>
            <a:picLocks noChangeAspect="1"/>
          </p:cNvPicPr>
          <p:nvPr/>
        </p:nvPicPr>
        <p:blipFill>
          <a:blip r:embed="rId3"/>
          <a:stretch>
            <a:fillRect/>
          </a:stretch>
        </p:blipFill>
        <p:spPr>
          <a:xfrm>
            <a:off x="537590" y="771747"/>
            <a:ext cx="11057510" cy="59846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47536"/>
          </a:xfrm>
          <a:prstGeom prst="rect">
            <a:avLst/>
          </a:prstGeom>
          <a:noFill/>
        </p:spPr>
        <p:txBody>
          <a:bodyPr wrap="square" rtlCol="0">
            <a:spAutoFit/>
          </a:bodyPr>
          <a:lstStyle/>
          <a:p>
            <a:r>
              <a:rPr lang="en-US" b="1" dirty="0"/>
              <a:t>Role of Agentic AI in </a:t>
            </a:r>
            <a:r>
              <a:rPr lang="en-US" b="1" dirty="0" err="1"/>
              <a:t>ResearchNova</a:t>
            </a:r>
            <a:r>
              <a:rPr lang="en-US" b="1" dirty="0"/>
              <a:t> AI</a:t>
            </a:r>
          </a:p>
          <a:p>
            <a:endParaRPr lang="en-US" dirty="0"/>
          </a:p>
          <a:p>
            <a:r>
              <a:rPr lang="en-US" b="1" dirty="0"/>
              <a:t>1. Automated Research Workflow</a:t>
            </a:r>
          </a:p>
          <a:p>
            <a:endParaRPr lang="en-US" dirty="0"/>
          </a:p>
          <a:p>
            <a:r>
              <a:rPr lang="en-US" dirty="0"/>
              <a:t>Agentic AI acts as the intelligent coordination layer of </a:t>
            </a:r>
            <a:r>
              <a:rPr lang="en-US" dirty="0" err="1"/>
              <a:t>ResearchNova</a:t>
            </a:r>
            <a:r>
              <a:rPr lang="en-US" dirty="0"/>
              <a:t> AI, automating multiple research tasks. It retrieves relevant academic papers, processes uploaded PDFs and notes, summarizes important findings, and compares information across different studies, reducing the time and effort required for research.</a:t>
            </a:r>
          </a:p>
          <a:p>
            <a:endParaRPr lang="en-US" dirty="0"/>
          </a:p>
          <a:p>
            <a:r>
              <a:rPr lang="en-US" b="1" dirty="0"/>
              <a:t>2. Research Gap Detection and Predictive Insights</a:t>
            </a:r>
          </a:p>
          <a:p>
            <a:endParaRPr lang="en-US" dirty="0"/>
          </a:p>
          <a:p>
            <a:r>
              <a:rPr lang="en-US" dirty="0"/>
              <a:t>The system analyzes existing research to identify research gaps, highlight emerging trends, and suggest promising directions for future investigations. It helps students and researchers discover unexplored areas and gain meaningful insights from large volumes of academic information.</a:t>
            </a:r>
          </a:p>
          <a:p>
            <a:endParaRPr lang="en-US" dirty="0"/>
          </a:p>
          <a:p>
            <a:r>
              <a:rPr lang="en-US" b="1" dirty="0"/>
              <a:t>3. AI Integration and Intelligent Report Generation</a:t>
            </a:r>
          </a:p>
          <a:p>
            <a:endParaRPr lang="en-US" dirty="0"/>
          </a:p>
          <a:p>
            <a:r>
              <a:rPr lang="en-US" dirty="0"/>
              <a:t>IBM </a:t>
            </a:r>
            <a:r>
              <a:rPr lang="en-US" dirty="0" err="1"/>
              <a:t>Langflow</a:t>
            </a:r>
            <a:r>
              <a:rPr lang="en-US" dirty="0"/>
              <a:t> or IBM Orchestrate coordinates the research workflow, while IBM Granite supports AI-powered analysis and content generation. Retrieval-Augmented Generation (RAG) and a vector database help retrieve relevant information and provide context-aware responses. Together, these components transform scattered academic resources into structured literature reviews, evidence-based insights, and comprehensive research reports.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264" y="1177904"/>
            <a:ext cx="11594536" cy="5807096"/>
          </a:xfrm>
          <a:prstGeom prst="rect">
            <a:avLst/>
          </a:prstGeom>
        </p:spPr>
      </p:pic>
    </p:spTree>
    <p:extLst>
      <p:ext uri="{BB962C8B-B14F-4D97-AF65-F5344CB8AC3E}">
        <p14:creationId xmlns:p14="http://schemas.microsoft.com/office/powerpoint/2010/main" val="4185649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100" y="887969"/>
            <a:ext cx="11671300" cy="647659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843757"/>
            <a:ext cx="11518900" cy="5798966"/>
          </a:xfrm>
          <a:prstGeom prst="rect">
            <a:avLst/>
          </a:prstGeom>
        </p:spPr>
      </p:pic>
    </p:spTree>
    <p:extLst>
      <p:ext uri="{BB962C8B-B14F-4D97-AF65-F5344CB8AC3E}">
        <p14:creationId xmlns:p14="http://schemas.microsoft.com/office/powerpoint/2010/main" val="24401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00" y="685800"/>
            <a:ext cx="11430000" cy="601689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44" y="711200"/>
            <a:ext cx="10998200" cy="584032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482600" y="1207008"/>
            <a:ext cx="11596624" cy="5478423"/>
          </a:xfrm>
          <a:prstGeom prst="rect">
            <a:avLst/>
          </a:prstGeom>
          <a:noFill/>
        </p:spPr>
        <p:txBody>
          <a:bodyPr wrap="square" rtlCol="0">
            <a:spAutoFit/>
          </a:bodyPr>
          <a:lstStyle/>
          <a:p>
            <a:r>
              <a:rPr lang="en-US" dirty="0"/>
              <a:t>Research Roadmap: Novelty and Uniqueness</a:t>
            </a:r>
          </a:p>
          <a:p>
            <a:endParaRPr lang="en-US" dirty="0"/>
          </a:p>
          <a:p>
            <a:r>
              <a:rPr lang="en-US" dirty="0"/>
              <a:t>1. </a:t>
            </a:r>
            <a:r>
              <a:rPr lang="en-US" b="1" dirty="0"/>
              <a:t>Research Problem Identification</a:t>
            </a:r>
            <a:r>
              <a:rPr lang="en-US" dirty="0"/>
              <a:t>:</a:t>
            </a:r>
          </a:p>
          <a:p>
            <a:r>
              <a:rPr lang="en-US" dirty="0"/>
              <a:t>Define the research problem, explain its significance, and identify the major challenges that existing solutions fail to address. Establish clear research objectives and the expected benefits of solving the problem.</a:t>
            </a:r>
          </a:p>
          <a:p>
            <a:endParaRPr lang="en-US" dirty="0"/>
          </a:p>
          <a:p>
            <a:r>
              <a:rPr lang="en-US" b="1" dirty="0"/>
              <a:t>2. Literature Review:</a:t>
            </a:r>
          </a:p>
          <a:p>
            <a:r>
              <a:rPr lang="en-US" dirty="0"/>
              <a:t>Analyze relevant research papers, journals, and existing approaches to understand current developments in the selected domain. Compare their methodologies, findings, strengths, and limitations to establish a strong foundation for further investigation.</a:t>
            </a:r>
          </a:p>
          <a:p>
            <a:endParaRPr lang="en-US" dirty="0"/>
          </a:p>
          <a:p>
            <a:r>
              <a:rPr lang="en-US" b="1" dirty="0"/>
              <a:t>3. Research Gap Detection:</a:t>
            </a:r>
          </a:p>
          <a:p>
            <a:r>
              <a:rPr lang="en-US" dirty="0"/>
              <a:t>Identify unexplored areas, unanswered questions, and limitations in existing studies. Highlight opportunities where current methods can be improved or where new approaches could provide better results.</a:t>
            </a:r>
          </a:p>
          <a:p>
            <a:endParaRPr lang="en-US" dirty="0"/>
          </a:p>
          <a:p>
            <a:r>
              <a:rPr lang="en-US" b="1" dirty="0"/>
              <a:t>4. Novelty Identification:</a:t>
            </a:r>
          </a:p>
          <a:p>
            <a:r>
              <a:rPr lang="en-US" dirty="0"/>
              <a:t>Develop original research ideas based on the identified gaps. Suggest innovative methods, improved techniques, or alternative approaches that differentiate the proposed research from existing solutions and offer meaningful </a:t>
            </a:r>
            <a:r>
              <a:rPr lang="en-US" dirty="0" smtClean="0"/>
              <a:t>contribution</a:t>
            </a:r>
            <a:endParaRPr lang="en-US" dirty="0"/>
          </a:p>
          <a:p>
            <a:endParaRPr lang="en-US" b="1" dirty="0"/>
          </a:p>
          <a:p>
            <a:r>
              <a:rPr lang="en-US" b="1" dirty="0" smtClean="0"/>
              <a:t>5. </a:t>
            </a:r>
            <a:r>
              <a:rPr lang="en-US" b="1" dirty="0"/>
              <a:t>Validation and Evaluation:</a:t>
            </a:r>
          </a:p>
          <a:p>
            <a:r>
              <a:rPr lang="en-US" dirty="0"/>
              <a:t>Evaluate the proposed approach using relevant experiments, performance metrics, and comparisons with existing methods. Verify whether the approach addresses the identified research gap and delivers measurable </a:t>
            </a:r>
            <a:r>
              <a:rPr lang="en-US" dirty="0" smtClean="0"/>
              <a:t>improvements</a:t>
            </a:r>
            <a:endParaRPr lang="en-US" dirty="0"/>
          </a:p>
          <a:p>
            <a:endParaRPr lang="en-US" dirty="0"/>
          </a:p>
          <a:p>
            <a:r>
              <a:rPr lang="en-US" b="1" dirty="0" smtClean="0"/>
              <a:t>6. </a:t>
            </a:r>
            <a:r>
              <a:rPr lang="en-US" b="1" dirty="0"/>
              <a:t>Expected Contribution and Future Scope:</a:t>
            </a:r>
          </a:p>
          <a:p>
            <a:r>
              <a:rPr lang="en-US" dirty="0"/>
              <a:t>Describe the anticipated outcomes, potential applications, and significance of the research. Explain how the findings could contribute to the field, address real-world challenges, and inspire further research opportunities.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hlinkClick r:id="rId3"/>
              </a:rPr>
              <a:t>https://</a:t>
            </a:r>
            <a:r>
              <a:rPr lang="en-US" sz="1850" dirty="0" smtClean="0">
                <a:latin typeface="Times New Roman"/>
                <a:ea typeface="Times New Roman"/>
                <a:cs typeface="Times New Roman"/>
                <a:sym typeface="Times New Roman"/>
                <a:hlinkClick r:id="rId3"/>
              </a:rPr>
              <a:t>github.com/prarthana69/ResearchNova</a:t>
            </a:r>
            <a:endParaRPr lang="en-US" sz="1850" dirty="0" smtClean="0">
              <a:latin typeface="Times New Roman"/>
              <a:ea typeface="Times New Roman"/>
              <a:cs typeface="Times New Roman"/>
              <a:sym typeface="Times New Roman"/>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50" b="1" dirty="0">
                <a:latin typeface="Times New Roman"/>
                <a:ea typeface="Times New Roman"/>
                <a:cs typeface="Times New Roman"/>
                <a:sym typeface="Times New Roman"/>
              </a:rPr>
              <a:t>1. Advanced AI: </a:t>
            </a:r>
            <a:r>
              <a:rPr lang="en-US" sz="1850" dirty="0">
                <a:latin typeface="Times New Roman"/>
                <a:ea typeface="Times New Roman"/>
                <a:cs typeface="Times New Roman"/>
                <a:sym typeface="Times New Roman"/>
              </a:rPr>
              <a:t>Enhance research gap detection to identify unexplored areas and suggest innovative research opportunities</a:t>
            </a:r>
            <a:r>
              <a:rPr lang="en-US" sz="1850" dirty="0" smtClean="0">
                <a:latin typeface="Times New Roman"/>
                <a:ea typeface="Times New Roman"/>
                <a:cs typeface="Times New Roman"/>
                <a:sym typeface="Times New Roman"/>
              </a:rPr>
              <a:t>.</a:t>
            </a: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50" b="1" dirty="0">
                <a:latin typeface="Times New Roman"/>
                <a:ea typeface="Times New Roman"/>
                <a:cs typeface="Times New Roman"/>
                <a:sym typeface="Times New Roman"/>
              </a:rPr>
              <a:t>2. Real-Time Updates: </a:t>
            </a:r>
            <a:r>
              <a:rPr lang="en-US" sz="1850" dirty="0">
                <a:latin typeface="Times New Roman"/>
                <a:ea typeface="Times New Roman"/>
                <a:cs typeface="Times New Roman"/>
                <a:sym typeface="Times New Roman"/>
              </a:rPr>
              <a:t>Integrate additional academic databases to track newly published papers and emerging research trends</a:t>
            </a:r>
            <a:r>
              <a:rPr lang="en-US" sz="1850" dirty="0" smtClean="0">
                <a:latin typeface="Times New Roman"/>
                <a:ea typeface="Times New Roman"/>
                <a:cs typeface="Times New Roman"/>
                <a:sym typeface="Times New Roman"/>
              </a:rPr>
              <a:t>.</a:t>
            </a: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50" b="1" dirty="0">
                <a:latin typeface="Times New Roman"/>
                <a:ea typeface="Times New Roman"/>
                <a:cs typeface="Times New Roman"/>
                <a:sym typeface="Times New Roman"/>
              </a:rPr>
              <a:t>3. Predictive Insights</a:t>
            </a:r>
            <a:r>
              <a:rPr lang="en-US" sz="1850" dirty="0">
                <a:latin typeface="Times New Roman"/>
                <a:ea typeface="Times New Roman"/>
                <a:cs typeface="Times New Roman"/>
                <a:sym typeface="Times New Roman"/>
              </a:rPr>
              <a:t>: Recommend promising future research directions by analyzing existing studies and publication trends</a:t>
            </a:r>
            <a:r>
              <a:rPr lang="en-US" sz="1850" dirty="0" smtClean="0">
                <a:latin typeface="Times New Roman"/>
                <a:ea typeface="Times New Roman"/>
                <a:cs typeface="Times New Roman"/>
                <a:sym typeface="Times New Roman"/>
              </a:rPr>
              <a:t>.</a:t>
            </a: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50" b="1" dirty="0">
                <a:latin typeface="Times New Roman"/>
                <a:ea typeface="Times New Roman"/>
                <a:cs typeface="Times New Roman"/>
                <a:sym typeface="Times New Roman"/>
              </a:rPr>
              <a:t>4. Collaborative Research: </a:t>
            </a:r>
            <a:r>
              <a:rPr lang="en-US" sz="1850" dirty="0">
                <a:latin typeface="Times New Roman"/>
                <a:ea typeface="Times New Roman"/>
                <a:cs typeface="Times New Roman"/>
                <a:sym typeface="Times New Roman"/>
              </a:rPr>
              <a:t>Enable researchers to share notes, literature reviews, and findings for better teamwork</a:t>
            </a:r>
            <a:r>
              <a:rPr lang="en-US" sz="1850" dirty="0" smtClean="0">
                <a:latin typeface="Times New Roman"/>
                <a:ea typeface="Times New Roman"/>
                <a:cs typeface="Times New Roman"/>
                <a:sym typeface="Times New Roman"/>
              </a:rPr>
              <a:t>.</a:t>
            </a: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50" b="1" dirty="0">
                <a:latin typeface="Times New Roman"/>
                <a:ea typeface="Times New Roman"/>
                <a:cs typeface="Times New Roman"/>
                <a:sym typeface="Times New Roman"/>
              </a:rPr>
              <a:t>5. Personalized Assistance: </a:t>
            </a:r>
            <a:r>
              <a:rPr lang="en-US" sz="1850" dirty="0">
                <a:latin typeface="Times New Roman"/>
                <a:ea typeface="Times New Roman"/>
                <a:cs typeface="Times New Roman"/>
                <a:sym typeface="Times New Roman"/>
              </a:rPr>
              <a:t>Generate customized research roadmaps and relevant paper recommendations based on users' interests and objectives.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9" name="Picture 8"/>
          <p:cNvPicPr>
            <a:picLocks noChangeAspect="1"/>
          </p:cNvPicPr>
          <p:nvPr/>
        </p:nvPicPr>
        <p:blipFill>
          <a:blip r:embed="rId2"/>
          <a:stretch>
            <a:fillRect/>
          </a:stretch>
        </p:blipFill>
        <p:spPr>
          <a:xfrm>
            <a:off x="225754" y="884489"/>
            <a:ext cx="5933746" cy="5973512"/>
          </a:xfrm>
          <a:prstGeom prst="rect">
            <a:avLst/>
          </a:prstGeom>
        </p:spPr>
      </p:pic>
      <p:pic>
        <p:nvPicPr>
          <p:cNvPr id="11" name="Picture 10"/>
          <p:cNvPicPr>
            <a:picLocks noChangeAspect="1"/>
          </p:cNvPicPr>
          <p:nvPr/>
        </p:nvPicPr>
        <p:blipFill>
          <a:blip r:embed="rId3"/>
          <a:stretch>
            <a:fillRect/>
          </a:stretch>
        </p:blipFill>
        <p:spPr>
          <a:xfrm>
            <a:off x="6261695" y="884488"/>
            <a:ext cx="5930305" cy="597351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p:cNvPicPr>
            <a:picLocks noChangeAspect="1"/>
          </p:cNvPicPr>
          <p:nvPr/>
        </p:nvPicPr>
        <p:blipFill>
          <a:blip r:embed="rId2"/>
          <a:stretch>
            <a:fillRect/>
          </a:stretch>
        </p:blipFill>
        <p:spPr>
          <a:xfrm>
            <a:off x="952500" y="1762124"/>
            <a:ext cx="10287000" cy="378777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625</TotalTime>
  <Words>1143</Words>
  <Application>Microsoft Office PowerPoint</Application>
  <PresentationFormat>Widescreen</PresentationFormat>
  <Paragraphs>175</Paragraphs>
  <Slides>21</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win 10</cp:lastModifiedBy>
  <cp:revision>22</cp:revision>
  <dcterms:created xsi:type="dcterms:W3CDTF">2025-07-08T05:06:56Z</dcterms:created>
  <dcterms:modified xsi:type="dcterms:W3CDTF">2026-10-14T18:49:08Z</dcterms:modified>
</cp:coreProperties>
</file>